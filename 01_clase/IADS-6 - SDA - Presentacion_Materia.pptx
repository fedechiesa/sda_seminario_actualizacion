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914400"/>
            <a:ext cx="411480" cy="4114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0" y="1920240"/>
            <a:ext cx="256032" cy="25603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869680" y="2743200"/>
            <a:ext cx="301752" cy="3017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149840" y="384048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95360" y="4663440"/>
            <a:ext cx="228600" cy="228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9692640" y="1188720"/>
            <a:ext cx="914400" cy="822960"/>
          </a:xfrm>
          <a:prstGeom prst="line">
            <a:avLst/>
          </a:prstGeom>
          <a:ln w="19050">
            <a:solidFill>
              <a:srgbClr val="3C5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052560" y="2011680"/>
            <a:ext cx="1554480" cy="914400"/>
          </a:xfrm>
          <a:prstGeom prst="line">
            <a:avLst/>
          </a:prstGeom>
          <a:ln w="19050">
            <a:solidFill>
              <a:srgbClr val="3C5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52560" y="2926080"/>
            <a:ext cx="1280160" cy="1097280"/>
          </a:xfrm>
          <a:prstGeom prst="line">
            <a:avLst/>
          </a:prstGeom>
          <a:ln w="19050">
            <a:solidFill>
              <a:srgbClr val="3C5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8778240" y="4023360"/>
            <a:ext cx="1554480" cy="731520"/>
          </a:xfrm>
          <a:prstGeom prst="line">
            <a:avLst/>
          </a:prstGeom>
          <a:ln w="19050">
            <a:solidFill>
              <a:srgbClr val="3C5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778240" y="2926080"/>
            <a:ext cx="274320" cy="1828800"/>
          </a:xfrm>
          <a:prstGeom prst="line">
            <a:avLst/>
          </a:prstGeom>
          <a:ln w="19050">
            <a:solidFill>
              <a:srgbClr val="3C5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1417320"/>
            <a:ext cx="7164975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4200" b="1" dirty="0" smtClean="0">
                <a:solidFill>
                  <a:srgbClr val="F5F7FA"/>
                </a:solidFill>
                <a:latin typeface="Aptos Display"/>
              </a:rPr>
              <a:t>IADS-6</a:t>
            </a:r>
            <a:endParaRPr sz="4200" b="1" dirty="0" smtClean="0">
              <a:solidFill>
                <a:srgbClr val="F5F7FA"/>
              </a:solidFill>
              <a:latin typeface="Aptos Display"/>
            </a:endParaRPr>
          </a:p>
          <a:p>
            <a:r>
              <a:rPr lang="es-AR" sz="4200" b="1" dirty="0" smtClean="0">
                <a:solidFill>
                  <a:srgbClr val="22D3EE"/>
                </a:solidFill>
                <a:latin typeface="Aptos Display"/>
              </a:rPr>
              <a:t>Seminario de Actualización</a:t>
            </a:r>
            <a:endParaRPr sz="4200" b="1" dirty="0">
              <a:solidFill>
                <a:srgbClr val="22D3EE"/>
              </a:solidFill>
              <a:latin typeface="Aptos Display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9808" y="324612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5F7FA"/>
                </a:solidFill>
                <a:latin typeface="Aptos"/>
              </a:rPr>
              <a:t>Presentación de la materia</a:t>
            </a:r>
          </a:p>
          <a:p>
            <a:r>
              <a:rPr sz="1500">
                <a:solidFill>
                  <a:srgbClr val="AEB9C9"/>
                </a:solidFill>
                <a:latin typeface="Aptos"/>
              </a:rPr>
              <a:t>De la IA que responde a la IA que decide y actúa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800600"/>
            <a:ext cx="3931920" cy="438912"/>
          </a:xfrm>
          <a:prstGeom prst="roundRect">
            <a:avLst/>
          </a:prstGeom>
          <a:solidFill>
            <a:srgbClr val="11303F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4882896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D3EE"/>
                </a:solidFill>
              </a:rPr>
              <a:t>6 unidades · enfoque conceptual + aplicado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Estamos entrando en una nueva etapa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EB9C9"/>
                </a:solidFill>
                <a:latin typeface="Aptos"/>
              </a:rPr>
              <a:t>La Inteligencia Artificial ya no se limita a generar respuestas.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2D3EE"/>
                </a:solidFill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88C"/>
                </a:solidFill>
                <a:latin typeface="Aptos"/>
              </a:rPr>
              <a:t>Agentes Autónomos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37560" cy="347472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54864" cy="3474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828800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  <a:latin typeface="Aptos Display"/>
              </a:rPr>
              <a:t>1. Comprender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2926079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AEB9C9"/>
                </a:solidFill>
                <a:latin typeface="Aptos"/>
              </a:defRPr>
            </a:pPr>
            <a:r>
              <a:t>Interpretar lenguaje</a:t>
            </a:r>
          </a:p>
          <a:p>
            <a:pPr>
              <a:spcAft>
                <a:spcPts val="700"/>
              </a:spcAft>
              <a:defRPr sz="1150">
                <a:solidFill>
                  <a:srgbClr val="AEB9C9"/>
                </a:solidFill>
                <a:latin typeface="Aptos"/>
              </a:defRPr>
            </a:pPr>
            <a:r>
              <a:t>Analizar información</a:t>
            </a:r>
          </a:p>
          <a:p>
            <a:pPr>
              <a:spcAft>
                <a:spcPts val="700"/>
              </a:spcAft>
              <a:defRPr sz="1150">
                <a:solidFill>
                  <a:srgbClr val="AEB9C9"/>
                </a:solidFill>
                <a:latin typeface="Aptos"/>
              </a:defRPr>
            </a:pPr>
            <a:r>
              <a:t>Generar contenido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45920"/>
            <a:ext cx="3337560" cy="347472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645920"/>
            <a:ext cx="54864" cy="3474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1828800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  <a:latin typeface="Aptos Display"/>
              </a:rPr>
              <a:t>2. Decidir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331720"/>
            <a:ext cx="2926079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AEB9C9"/>
                </a:solidFill>
                <a:latin typeface="Aptos"/>
              </a:defRPr>
            </a:pPr>
            <a:r>
              <a:t>Evaluar contexto</a:t>
            </a:r>
          </a:p>
          <a:p>
            <a:pPr>
              <a:spcAft>
                <a:spcPts val="700"/>
              </a:spcAft>
              <a:defRPr sz="1150">
                <a:solidFill>
                  <a:srgbClr val="AEB9C9"/>
                </a:solidFill>
                <a:latin typeface="Aptos"/>
              </a:defRPr>
            </a:pPr>
            <a:r>
              <a:t>Elegir estrategias</a:t>
            </a:r>
          </a:p>
          <a:p>
            <a:pPr>
              <a:spcAft>
                <a:spcPts val="700"/>
              </a:spcAft>
              <a:defRPr sz="1150">
                <a:solidFill>
                  <a:srgbClr val="AEB9C9"/>
                </a:solidFill>
                <a:latin typeface="Aptos"/>
              </a:defRPr>
            </a:pPr>
            <a:r>
              <a:t>Planificar acciones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45920"/>
            <a:ext cx="3337560" cy="347472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645920"/>
            <a:ext cx="54864" cy="3474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1828800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  <a:latin typeface="Aptos Display"/>
              </a:rPr>
              <a:t>3. Actuar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31720"/>
            <a:ext cx="2926079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AEB9C9"/>
                </a:solidFill>
                <a:latin typeface="Aptos"/>
              </a:defRPr>
            </a:pPr>
            <a:r>
              <a:t>Usar herramientas</a:t>
            </a:r>
          </a:p>
          <a:p>
            <a:pPr>
              <a:spcAft>
                <a:spcPts val="700"/>
              </a:spcAft>
              <a:defRPr sz="1150">
                <a:solidFill>
                  <a:srgbClr val="AEB9C9"/>
                </a:solidFill>
                <a:latin typeface="Aptos"/>
              </a:defRPr>
            </a:pPr>
            <a:r>
              <a:t>Interactuar con sistemas</a:t>
            </a:r>
          </a:p>
          <a:p>
            <a:pPr>
              <a:spcAft>
                <a:spcPts val="700"/>
              </a:spcAft>
              <a:defRPr sz="1150">
                <a:solidFill>
                  <a:srgbClr val="AEB9C9"/>
                </a:solidFill>
                <a:latin typeface="Aptos"/>
              </a:defRPr>
            </a:pPr>
            <a:r>
              <a:t>Ejecutar acciones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48640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5F7FA"/>
                </a:solidFill>
              </a:rPr>
              <a:t>El salto clave: de una IA que responde a una IA que persigue objetivos.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¿Qué es un agente autónomo?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EB9C9"/>
                </a:solidFill>
                <a:latin typeface="Aptos"/>
              </a:rPr>
              <a:t>Un sistema orientado a objetivos que percibe, decide y ejecuta.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2D3EE"/>
                </a:solidFill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88C"/>
                </a:solidFill>
                <a:latin typeface="Aptos"/>
              </a:rPr>
              <a:t>Agentes Autónomos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463040"/>
            <a:ext cx="2011680" cy="658368"/>
          </a:xfrm>
          <a:prstGeom prst="roundRect">
            <a:avLst/>
          </a:prstGeom>
          <a:solidFill>
            <a:srgbClr val="0A5B76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23560" y="16184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</a:rPr>
              <a:t>OBJETIVO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2743200"/>
            <a:ext cx="2011680" cy="658368"/>
          </a:xfrm>
          <a:prstGeom prst="roundRect">
            <a:avLst/>
          </a:prstGeom>
          <a:solidFill>
            <a:srgbClr val="0A0A7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28800" y="289864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</a:rPr>
              <a:t>PERCEPCIÓN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743200"/>
            <a:ext cx="2011680" cy="658368"/>
          </a:xfrm>
          <a:prstGeom prst="roundRect">
            <a:avLst/>
          </a:prstGeom>
          <a:solidFill>
            <a:srgbClr val="130A7E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289864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</a:rPr>
              <a:t>DECISIÓN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743200"/>
            <a:ext cx="2011680" cy="658368"/>
          </a:xfrm>
          <a:prstGeom prst="roundRect">
            <a:avLst/>
          </a:prstGeom>
          <a:solidFill>
            <a:srgbClr val="0A4D0A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289864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</a:rPr>
              <a:t>ACCIÓN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4617720"/>
            <a:ext cx="2011680" cy="658368"/>
          </a:xfrm>
          <a:prstGeom prst="roundRect">
            <a:avLst/>
          </a:prstGeom>
          <a:solidFill>
            <a:srgbClr val="7D260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0" y="477316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</a:rPr>
              <a:t>ENTORNO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40480" y="3072384"/>
            <a:ext cx="1097280" cy="0"/>
          </a:xfrm>
          <a:prstGeom prst="line">
            <a:avLst/>
          </a:prstGeom>
          <a:ln w="25400">
            <a:solidFill>
              <a:srgbClr val="5A6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49440" y="3072384"/>
            <a:ext cx="1097280" cy="0"/>
          </a:xfrm>
          <a:prstGeom prst="line">
            <a:avLst/>
          </a:prstGeom>
          <a:ln w="25400">
            <a:solidFill>
              <a:srgbClr val="5A6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400800" y="3401568"/>
            <a:ext cx="2651760" cy="1216152"/>
          </a:xfrm>
          <a:prstGeom prst="line">
            <a:avLst/>
          </a:prstGeom>
          <a:ln w="25400">
            <a:solidFill>
              <a:srgbClr val="5A6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2834640" y="3401568"/>
            <a:ext cx="2103120" cy="1536192"/>
          </a:xfrm>
          <a:prstGeom prst="line">
            <a:avLst/>
          </a:prstGeom>
          <a:ln w="25400">
            <a:solidFill>
              <a:srgbClr val="5A6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943600" y="2121408"/>
            <a:ext cx="685800" cy="621792"/>
          </a:xfrm>
          <a:prstGeom prst="line">
            <a:avLst/>
          </a:prstGeom>
          <a:ln w="25400">
            <a:solidFill>
              <a:srgbClr val="5A6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Las preguntas que guían la materia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EB9C9"/>
                </a:solidFill>
                <a:latin typeface="Aptos"/>
              </a:rPr>
              <a:t>Construir agentes también significa aprender a controlarlos.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2D3EE"/>
                </a:solidFill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88C"/>
                </a:solidFill>
                <a:latin typeface="Aptos"/>
              </a:rPr>
              <a:t>Agentes Autónomos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5074920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41832" y="1600200"/>
            <a:ext cx="438912" cy="43891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27048" y="1581912"/>
            <a:ext cx="4069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5F7FA"/>
                </a:solidFill>
              </a:rPr>
              <a:t>¿Cómo sabe cada agente qué tiene que hacer?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417320"/>
            <a:ext cx="5074920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73951" y="1600200"/>
            <a:ext cx="438912" cy="43891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59168" y="1581912"/>
            <a:ext cx="4069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5F7FA"/>
                </a:solidFill>
              </a:rPr>
              <a:t>¿Cómo se comunican y delegan tareas?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560320"/>
            <a:ext cx="5074920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41832" y="2743200"/>
            <a:ext cx="438912" cy="43891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27048" y="2724912"/>
            <a:ext cx="4069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5F7FA"/>
                </a:solidFill>
              </a:rPr>
              <a:t>¿Quién coordina el trabajo?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2560320"/>
            <a:ext cx="5074920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73951" y="2743200"/>
            <a:ext cx="438912" cy="43891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59168" y="2724912"/>
            <a:ext cx="4069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5F7FA"/>
                </a:solidFill>
              </a:rPr>
              <a:t>¿Qué pasa si dos agentes se contradicen?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703320"/>
            <a:ext cx="5074920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41832" y="3886200"/>
            <a:ext cx="438912" cy="43891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27048" y="3867911"/>
            <a:ext cx="4069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5F7FA"/>
                </a:solidFill>
              </a:rPr>
              <a:t>¿Cómo mantenemos memoria y contexto?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3703320"/>
            <a:ext cx="5074920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73951" y="3886200"/>
            <a:ext cx="438912" cy="43891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59168" y="3867911"/>
            <a:ext cx="4069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5F7FA"/>
                </a:solidFill>
              </a:rPr>
              <a:t>¿Qué ocurre cuando un agente falla?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846320"/>
            <a:ext cx="5074920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41832" y="5029200"/>
            <a:ext cx="438912" cy="43891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27048" y="5010912"/>
            <a:ext cx="4069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5F7FA"/>
                </a:solidFill>
              </a:rPr>
              <a:t>¿Cuándo debe intervenir una persona?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59" y="4846320"/>
            <a:ext cx="5074920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473951" y="5029200"/>
            <a:ext cx="438912" cy="43891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59168" y="5010912"/>
            <a:ext cx="4069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5F7FA"/>
                </a:solidFill>
              </a:rPr>
              <a:t>¿Cómo conectamos agentes con sistemas reales?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Nuestro recorrido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EB9C9"/>
                </a:solidFill>
                <a:latin typeface="Aptos"/>
              </a:rPr>
              <a:t>Seis unidades para pasar del concepto a una solución autónoma completa.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2D3EE"/>
                </a:solidFill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88C"/>
                </a:solidFill>
                <a:latin typeface="Aptos"/>
              </a:rPr>
              <a:t>Agentes Autónomos</a:t>
            </a:r>
          </a:p>
        </p:txBody>
      </p:sp>
      <p:sp>
        <p:nvSpPr>
          <p:cNvPr id="8" name="Oval 7"/>
          <p:cNvSpPr/>
          <p:nvPr/>
        </p:nvSpPr>
        <p:spPr>
          <a:xfrm>
            <a:off x="1161288" y="1828800"/>
            <a:ext cx="777240" cy="7772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2029968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A0F1B"/>
                </a:solidFill>
              </a:rPr>
              <a:t>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38528" y="2212848"/>
            <a:ext cx="1124711" cy="0"/>
          </a:xfrm>
          <a:prstGeom prst="line">
            <a:avLst/>
          </a:prstGeom>
          <a:ln w="25400">
            <a:solidFill>
              <a:srgbClr val="415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2788920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</a:rPr>
              <a:t>Fundamentos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73552"/>
            <a:ext cx="1783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AEB9C9"/>
                </a:solidFill>
              </a:rPr>
              <a:t>Agente, autonomía,
percepción y acción</a:t>
            </a:r>
          </a:p>
        </p:txBody>
      </p:sp>
      <p:sp>
        <p:nvSpPr>
          <p:cNvPr id="13" name="Oval 12"/>
          <p:cNvSpPr/>
          <p:nvPr/>
        </p:nvSpPr>
        <p:spPr>
          <a:xfrm>
            <a:off x="3063239" y="1828800"/>
            <a:ext cx="777240" cy="7772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39" y="2029968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A0F1B"/>
                </a:solidFill>
              </a:rPr>
              <a:t>02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40479" y="2212848"/>
            <a:ext cx="1124713" cy="0"/>
          </a:xfrm>
          <a:prstGeom prst="line">
            <a:avLst/>
          </a:prstGeom>
          <a:ln w="25400">
            <a:solidFill>
              <a:srgbClr val="415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60320" y="2788920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</a:rPr>
              <a:t>Arquitectura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273552"/>
            <a:ext cx="1783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AEB9C9"/>
                </a:solidFill>
              </a:rPr>
              <a:t>Roles, jerarquías y
sistemas multiagente</a:t>
            </a:r>
          </a:p>
        </p:txBody>
      </p:sp>
      <p:sp>
        <p:nvSpPr>
          <p:cNvPr id="18" name="Oval 17"/>
          <p:cNvSpPr/>
          <p:nvPr/>
        </p:nvSpPr>
        <p:spPr>
          <a:xfrm>
            <a:off x="4965192" y="1828800"/>
            <a:ext cx="777240" cy="7772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65192" y="2029968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A0F1B"/>
                </a:solidFill>
              </a:rPr>
              <a:t>03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42431" y="2212848"/>
            <a:ext cx="1124713" cy="0"/>
          </a:xfrm>
          <a:prstGeom prst="line">
            <a:avLst/>
          </a:prstGeom>
          <a:ln w="25400">
            <a:solidFill>
              <a:srgbClr val="415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462272" y="2788920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</a:rPr>
              <a:t>Coordinación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3273552"/>
            <a:ext cx="1783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AEB9C9"/>
                </a:solidFill>
              </a:rPr>
              <a:t>Comunicación,
delegación y conflictos</a:t>
            </a:r>
          </a:p>
        </p:txBody>
      </p:sp>
      <p:sp>
        <p:nvSpPr>
          <p:cNvPr id="23" name="Oval 22"/>
          <p:cNvSpPr/>
          <p:nvPr/>
        </p:nvSpPr>
        <p:spPr>
          <a:xfrm>
            <a:off x="6867144" y="1828800"/>
            <a:ext cx="777240" cy="7772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67144" y="2029968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A0F1B"/>
                </a:solidFill>
              </a:rPr>
              <a:t>04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644383" y="2212848"/>
            <a:ext cx="1124713" cy="0"/>
          </a:xfrm>
          <a:prstGeom prst="line">
            <a:avLst/>
          </a:prstGeom>
          <a:ln w="25400">
            <a:solidFill>
              <a:srgbClr val="415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64224" y="2788920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</a:rPr>
              <a:t>Orquestación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3273552"/>
            <a:ext cx="1783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AEB9C9"/>
                </a:solidFill>
              </a:rPr>
              <a:t>Herramientas, APIs
y automatización</a:t>
            </a:r>
          </a:p>
        </p:txBody>
      </p:sp>
      <p:sp>
        <p:nvSpPr>
          <p:cNvPr id="28" name="Oval 27"/>
          <p:cNvSpPr/>
          <p:nvPr/>
        </p:nvSpPr>
        <p:spPr>
          <a:xfrm>
            <a:off x="8769096" y="1828800"/>
            <a:ext cx="777240" cy="7772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69096" y="2029968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A0F1B"/>
                </a:solidFill>
              </a:rPr>
              <a:t>05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46336" y="2212848"/>
            <a:ext cx="1124712" cy="0"/>
          </a:xfrm>
          <a:prstGeom prst="line">
            <a:avLst/>
          </a:prstGeom>
          <a:ln w="25400">
            <a:solidFill>
              <a:srgbClr val="415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66176" y="2788920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176" y="3273552"/>
            <a:ext cx="1783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AEB9C9"/>
                </a:solidFill>
              </a:rPr>
              <a:t>Estado, monitoreo,
auditoría y HITL</a:t>
            </a:r>
          </a:p>
        </p:txBody>
      </p:sp>
      <p:sp>
        <p:nvSpPr>
          <p:cNvPr id="33" name="Oval 32"/>
          <p:cNvSpPr/>
          <p:nvPr/>
        </p:nvSpPr>
        <p:spPr>
          <a:xfrm>
            <a:off x="10671048" y="1828800"/>
            <a:ext cx="777240" cy="7772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671048" y="2029968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A0F1B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68128" y="2788920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</a:rPr>
              <a:t>Aplicación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68128" y="3273552"/>
            <a:ext cx="1783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AEB9C9"/>
                </a:solidFill>
              </a:rPr>
              <a:t>Soluciones end-to-end
y casos reales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029200"/>
            <a:ext cx="10149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</a:rPr>
              <a:t>Agente → Arquitectura → Comunicación → Orquestación → Control → Solución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Unidad 1 · Fundamentos de Agentes Autónomos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EB9C9"/>
                </a:solidFill>
                <a:latin typeface="Aptos"/>
              </a:rPr>
              <a:t>¿Qué son los agentes autónomos y cuál es su rol dentro de los sistemas modernos de IA?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2D3EE"/>
                </a:solidFill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88C"/>
                </a:solidFill>
                <a:latin typeface="Aptos"/>
              </a:rPr>
              <a:t>Agentes Autónomos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965960" cy="4160520"/>
          </a:xfrm>
          <a:prstGeom prst="roundRect">
            <a:avLst/>
          </a:prstGeom>
          <a:solidFill>
            <a:srgbClr val="11192A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15087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22D3EE"/>
                </a:solidFill>
              </a:rPr>
              <a:t>1</a:t>
            </a:r>
          </a:p>
          <a:p>
            <a:pPr algn="ctr"/>
            <a:r>
              <a:rPr sz="1100" b="1">
                <a:solidFill>
                  <a:srgbClr val="AEB9C9"/>
                </a:solidFill>
              </a:rPr>
              <a:t>UNIDAD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572768"/>
            <a:ext cx="8183879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310128" y="1801368"/>
            <a:ext cx="347472" cy="34747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0" y="1737360"/>
            <a:ext cx="7040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5F7FA"/>
                </a:solidFill>
              </a:rPr>
              <a:t>Definición de agente y autonomía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624328"/>
            <a:ext cx="8183879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310128" y="2852928"/>
            <a:ext cx="347472" cy="34747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0" y="2788920"/>
            <a:ext cx="7040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5F7FA"/>
                </a:solidFill>
              </a:rPr>
              <a:t>Percepción, acción y toma de decisiones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3675887"/>
            <a:ext cx="8183879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310128" y="3904487"/>
            <a:ext cx="347472" cy="34747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0" y="3840479"/>
            <a:ext cx="7040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5F7FA"/>
                </a:solidFill>
              </a:rPr>
              <a:t>Automatización vs. asistentes vs. agentes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63240" y="4727448"/>
            <a:ext cx="8183879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310128" y="4956048"/>
            <a:ext cx="347472" cy="34747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0" y="4892040"/>
            <a:ext cx="7040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5F7FA"/>
                </a:solidFill>
              </a:rPr>
              <a:t>Objetivos, contexto, memoria y ejecución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Unidad 2 · Arquitectura de Sistemas Multiagente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EB9C9"/>
                </a:solidFill>
                <a:latin typeface="Aptos"/>
              </a:rPr>
              <a:t>¿Cómo se estructuran sistemas compuestos por múltiples agentes que colaboran entre sí?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2D3EE"/>
                </a:solidFill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88C"/>
                </a:solidFill>
                <a:latin typeface="Aptos"/>
              </a:rPr>
              <a:t>Agentes Autónomos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965960" cy="4160520"/>
          </a:xfrm>
          <a:prstGeom prst="roundRect">
            <a:avLst/>
          </a:prstGeom>
          <a:solidFill>
            <a:srgbClr val="11192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15087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B82F6"/>
                </a:solidFill>
              </a:rPr>
              <a:t>2</a:t>
            </a:r>
          </a:p>
          <a:p>
            <a:pPr algn="ctr"/>
            <a:r>
              <a:rPr sz="1100" b="1">
                <a:solidFill>
                  <a:srgbClr val="AEB9C9"/>
                </a:solidFill>
              </a:rPr>
              <a:t>UNIDAD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572768"/>
            <a:ext cx="8183879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310128" y="1801368"/>
            <a:ext cx="347472" cy="3474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0" y="1737360"/>
            <a:ext cx="7040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5F7FA"/>
                </a:solidFill>
              </a:rPr>
              <a:t>Diseño de arquitecturas 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624328"/>
            <a:ext cx="8183879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310128" y="2852928"/>
            <a:ext cx="347472" cy="3474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0" y="2788920"/>
            <a:ext cx="7040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5F7FA"/>
                </a:solidFill>
              </a:rPr>
              <a:t>Agentes especializados, coordinadores y ejecutores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3675887"/>
            <a:ext cx="8183879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310128" y="3904487"/>
            <a:ext cx="347472" cy="3474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0" y="3840479"/>
            <a:ext cx="7040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5F7FA"/>
                </a:solidFill>
              </a:rPr>
              <a:t>Modelos centralizados, distribuidos e híbridos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63240" y="4727448"/>
            <a:ext cx="8183879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310128" y="4956048"/>
            <a:ext cx="347472" cy="3474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0" y="4892040"/>
            <a:ext cx="7040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5F7FA"/>
                </a:solidFill>
              </a:rPr>
              <a:t>Jerarquías y patrones de diseño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Unidad 3 · Comunicación y Coordinación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EB9C9"/>
                </a:solidFill>
                <a:latin typeface="Aptos"/>
              </a:rPr>
              <a:t>¿Cómo interactúan los agentes para compartir información, delegar tareas y resolver objetivos comunes?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2D3EE"/>
                </a:solidFill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88C"/>
                </a:solidFill>
                <a:latin typeface="Aptos"/>
              </a:rPr>
              <a:t>Agentes Autónomos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965960" cy="4160520"/>
          </a:xfrm>
          <a:prstGeom prst="roundRect">
            <a:avLst/>
          </a:prstGeom>
          <a:solidFill>
            <a:srgbClr val="11192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15087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8B5CF6"/>
                </a:solidFill>
              </a:rPr>
              <a:t>3</a:t>
            </a:r>
          </a:p>
          <a:p>
            <a:pPr algn="ctr"/>
            <a:r>
              <a:rPr sz="1100" b="1">
                <a:solidFill>
                  <a:srgbClr val="AEB9C9"/>
                </a:solidFill>
              </a:rPr>
              <a:t>UNIDAD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572768"/>
            <a:ext cx="8183879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310128" y="1801368"/>
            <a:ext cx="347472" cy="34747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0" y="1737360"/>
            <a:ext cx="7040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5F7FA"/>
                </a:solidFill>
              </a:rPr>
              <a:t>Protocolos de comunicación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624328"/>
            <a:ext cx="8183879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310128" y="2852928"/>
            <a:ext cx="347472" cy="34747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0" y="2788920"/>
            <a:ext cx="7040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5F7FA"/>
                </a:solidFill>
              </a:rPr>
              <a:t>Intercambio de contexto y delegación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3675887"/>
            <a:ext cx="8183879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310128" y="3904487"/>
            <a:ext cx="347472" cy="34747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0" y="3840479"/>
            <a:ext cx="7040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5F7FA"/>
                </a:solidFill>
              </a:rPr>
              <a:t>Dependencias, eventos y sincronización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63240" y="4727448"/>
            <a:ext cx="8183879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310128" y="4956048"/>
            <a:ext cx="347472" cy="34747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0" y="4892040"/>
            <a:ext cx="7040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5F7FA"/>
                </a:solidFill>
              </a:rPr>
              <a:t>Resolución de conflictos entre agentes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Unidad 4 · Orquestación y Automatización con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EB9C9"/>
                </a:solidFill>
                <a:latin typeface="Aptos"/>
              </a:rPr>
              <a:t>¿Cómo se integran agentes, herramientas y servicios externos para automatizar procesos complejos?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2D3EE"/>
                </a:solidFill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88C"/>
                </a:solidFill>
                <a:latin typeface="Aptos"/>
              </a:rPr>
              <a:t>Agentes Autónomos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965960" cy="4160520"/>
          </a:xfrm>
          <a:prstGeom prst="roundRect">
            <a:avLst/>
          </a:prstGeom>
          <a:solidFill>
            <a:srgbClr val="11192A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15087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22C55E"/>
                </a:solidFill>
              </a:rPr>
              <a:t>4</a:t>
            </a:r>
          </a:p>
          <a:p>
            <a:pPr algn="ctr"/>
            <a:r>
              <a:rPr sz="1100" b="1">
                <a:solidFill>
                  <a:srgbClr val="AEB9C9"/>
                </a:solidFill>
              </a:rPr>
              <a:t>UNIDAD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572768"/>
            <a:ext cx="8183879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310128" y="1801368"/>
            <a:ext cx="347472" cy="34747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0" y="1737360"/>
            <a:ext cx="7040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5F7FA"/>
                </a:solidFill>
              </a:rPr>
              <a:t>Orquestación de flujos inteligentes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624328"/>
            <a:ext cx="8183879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310128" y="2852928"/>
            <a:ext cx="347472" cy="34747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0" y="2788920"/>
            <a:ext cx="7040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5F7FA"/>
                </a:solidFill>
              </a:rPr>
              <a:t>Integración con APIs y servicios externos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3675887"/>
            <a:ext cx="8183879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310128" y="3904487"/>
            <a:ext cx="347472" cy="34747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0" y="3840479"/>
            <a:ext cx="7040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5F7FA"/>
                </a:solidFill>
              </a:rPr>
              <a:t>Plataformas de automatización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63240" y="4727448"/>
            <a:ext cx="8183879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310128" y="4956048"/>
            <a:ext cx="347472" cy="34747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0" y="4892040"/>
            <a:ext cx="7040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5F7FA"/>
                </a:solidFill>
              </a:rPr>
              <a:t>Pipelines, triggers, validaciones y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Unidad 5 · Gestión de Estado, Supervisión y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EB9C9"/>
                </a:solidFill>
                <a:latin typeface="Aptos"/>
              </a:rPr>
              <a:t>¿Cómo se garantiza la continuidad, trazabilidad y confiabilidad de los procesos automatizados?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2D3EE"/>
                </a:solidFill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88C"/>
                </a:solidFill>
                <a:latin typeface="Aptos"/>
              </a:rPr>
              <a:t>Agentes Autónomos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965960" cy="4160520"/>
          </a:xfrm>
          <a:prstGeom prst="roundRect">
            <a:avLst/>
          </a:prstGeom>
          <a:solidFill>
            <a:srgbClr val="1119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15087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59E0B"/>
                </a:solidFill>
              </a:rPr>
              <a:t>5</a:t>
            </a:r>
          </a:p>
          <a:p>
            <a:pPr algn="ctr"/>
            <a:r>
              <a:rPr sz="1100" b="1">
                <a:solidFill>
                  <a:srgbClr val="AEB9C9"/>
                </a:solidFill>
              </a:rPr>
              <a:t>UNIDAD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572768"/>
            <a:ext cx="8183879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310128" y="1801368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0" y="1737360"/>
            <a:ext cx="7040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5F7FA"/>
                </a:solidFill>
              </a:rPr>
              <a:t>Estados y persistencia de contexto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624328"/>
            <a:ext cx="8183879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310128" y="2852928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0" y="2788920"/>
            <a:ext cx="7040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5F7FA"/>
                </a:solidFill>
              </a:rPr>
              <a:t>Monitoreo, observabilidad y errores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3675887"/>
            <a:ext cx="8183879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310128" y="3904487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0" y="3840479"/>
            <a:ext cx="7040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5F7FA"/>
                </a:solidFill>
              </a:rPr>
              <a:t>Human-in-the-Loop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63240" y="4727448"/>
            <a:ext cx="8183879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310128" y="4956048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0" y="4892040"/>
            <a:ext cx="7040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5F7FA"/>
                </a:solidFill>
              </a:rPr>
              <a:t>Auditoría y mejora continua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Unidad 6 · Sistemas Autónomos Aplicados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EB9C9"/>
                </a:solidFill>
                <a:latin typeface="Aptos"/>
              </a:rPr>
              <a:t>¿Cómo se diseñan soluciones completas orientadas a problemas reales del entorno productivo?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2D3EE"/>
                </a:solidFill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88C"/>
                </a:solidFill>
                <a:latin typeface="Aptos"/>
              </a:rPr>
              <a:t>Agentes Autónomos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965960" cy="4160520"/>
          </a:xfrm>
          <a:prstGeom prst="roundRect">
            <a:avLst/>
          </a:prstGeom>
          <a:solidFill>
            <a:srgbClr val="11192A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15087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EF4444"/>
                </a:solidFill>
              </a:rPr>
              <a:t>6</a:t>
            </a:r>
          </a:p>
          <a:p>
            <a:pPr algn="ctr"/>
            <a:r>
              <a:rPr sz="1100" b="1">
                <a:solidFill>
                  <a:srgbClr val="AEB9C9"/>
                </a:solidFill>
              </a:rPr>
              <a:t>UNIDAD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572768"/>
            <a:ext cx="8183879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310128" y="1801368"/>
            <a:ext cx="347472" cy="3474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0" y="1737360"/>
            <a:ext cx="7040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5F7FA"/>
                </a:solidFill>
              </a:rPr>
              <a:t>Soluciones end-to-end con agentes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624328"/>
            <a:ext cx="8183879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310128" y="2852928"/>
            <a:ext cx="347472" cy="3474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0" y="2788920"/>
            <a:ext cx="7040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5F7FA"/>
                </a:solidFill>
              </a:rPr>
              <a:t>Integraciones avanzadas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3675887"/>
            <a:ext cx="8183879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310128" y="3904487"/>
            <a:ext cx="347472" cy="3474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0" y="3840479"/>
            <a:ext cx="7040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5F7FA"/>
                </a:solidFill>
              </a:rPr>
              <a:t>Automatización de procesos de negocio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63240" y="4727448"/>
            <a:ext cx="8183879" cy="822960"/>
          </a:xfrm>
          <a:prstGeom prst="roundRect">
            <a:avLst/>
          </a:prstGeom>
          <a:solidFill>
            <a:srgbClr val="172033"/>
          </a:solidFill>
          <a:ln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310128" y="4956048"/>
            <a:ext cx="347472" cy="3474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0" y="4892040"/>
            <a:ext cx="7040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5F7FA"/>
                </a:solidFill>
              </a:rPr>
              <a:t>Operaciones, soporte, análisis y decisiones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Un cambio de paradigma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EB9C9"/>
                </a:solidFill>
                <a:latin typeface="Aptos"/>
              </a:rPr>
              <a:t>No desaparece la programación: cambia qué parte del comportamiento definimos explícitamente.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2D3EE"/>
                </a:solidFill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88C"/>
                </a:solidFill>
                <a:latin typeface="Aptos"/>
              </a:rPr>
              <a:t>Agentes Autónomos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4983480" cy="406908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554480"/>
            <a:ext cx="54864" cy="4069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173736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7FA"/>
                </a:solidFill>
                <a:latin typeface="Aptos Display"/>
              </a:rPr>
              <a:t>Programación tradicional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AEB9C9"/>
                </a:solidFill>
                <a:latin typeface="Aptos"/>
              </a:defRPr>
            </a:pPr>
            <a:r>
              <a:t>Nosotros definimos el camino.</a:t>
            </a:r>
          </a:p>
          <a:p>
            <a:pPr>
              <a:spcAft>
                <a:spcPts val="700"/>
              </a:spcAft>
              <a:defRPr sz="1300">
                <a:solidFill>
                  <a:srgbClr val="AEB9C9"/>
                </a:solidFill>
                <a:latin typeface="Aptos"/>
              </a:defRPr>
            </a:pPr>
            <a:r>
              <a:t>Si ocurre A → ejecutar B.</a:t>
            </a:r>
          </a:p>
          <a:p>
            <a:pPr>
              <a:spcAft>
                <a:spcPts val="700"/>
              </a:spcAft>
              <a:defRPr sz="1300">
                <a:solidFill>
                  <a:srgbClr val="AEB9C9"/>
                </a:solidFill>
                <a:latin typeface="Aptos"/>
              </a:defRPr>
            </a:pPr>
            <a:r>
              <a:t>Si ocurre C → ejecutar D.</a:t>
            </a:r>
          </a:p>
          <a:p>
            <a:pPr>
              <a:spcAft>
                <a:spcPts val="700"/>
              </a:spcAft>
              <a:defRPr sz="1300">
                <a:solidFill>
                  <a:srgbClr val="AEB9C9"/>
                </a:solidFill>
                <a:latin typeface="Aptos"/>
              </a:defRPr>
            </a:pPr>
            <a:r>
              <a:t>El comportamiento está altamente especificado.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554480"/>
            <a:ext cx="4983480" cy="406908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F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1554480"/>
            <a:ext cx="54864" cy="40690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73736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7FA"/>
                </a:solidFill>
                <a:latin typeface="Aptos Display"/>
              </a:rPr>
              <a:t>Sistema basado en agentes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2402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AEB9C9"/>
                </a:solidFill>
                <a:latin typeface="Aptos"/>
              </a:defRPr>
            </a:pPr>
            <a:r>
              <a:t>Definimos el objetivo.</a:t>
            </a:r>
          </a:p>
          <a:p>
            <a:pPr>
              <a:spcAft>
                <a:spcPts val="700"/>
              </a:spcAft>
              <a:defRPr sz="1300">
                <a:solidFill>
                  <a:srgbClr val="AEB9C9"/>
                </a:solidFill>
                <a:latin typeface="Aptos"/>
              </a:defRPr>
            </a:pPr>
            <a:r>
              <a:t>Proporcionamos contexto y herramientas.</a:t>
            </a:r>
          </a:p>
          <a:p>
            <a:pPr>
              <a:spcAft>
                <a:spcPts val="700"/>
              </a:spcAft>
              <a:defRPr sz="1300">
                <a:solidFill>
                  <a:srgbClr val="AEB9C9"/>
                </a:solidFill>
                <a:latin typeface="Aptos"/>
              </a:defRPr>
            </a:pPr>
            <a:r>
              <a:t>Establecemos reglas y límites.</a:t>
            </a:r>
          </a:p>
          <a:p>
            <a:pPr>
              <a:spcAft>
                <a:spcPts val="700"/>
              </a:spcAft>
              <a:defRPr sz="1300">
                <a:solidFill>
                  <a:srgbClr val="AEB9C9"/>
                </a:solidFill>
                <a:latin typeface="Aptos"/>
              </a:defRPr>
            </a:pPr>
            <a:r>
              <a:t>El agente determina parte del camino.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2D3EE"/>
                </a:solidFill>
              </a:rPr>
              <a:t>LA PREGUNTA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828800"/>
            <a:ext cx="9875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100" b="1">
                <a:solidFill>
                  <a:srgbClr val="F5F7FA"/>
                </a:solidFill>
                <a:latin typeface="Aptos Display"/>
              </a:rPr>
              <a:t>¿Qué decisiones programamos nosotros
y cuáles delegamos en la Inteligencia Artificial?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51960"/>
            <a:ext cx="8503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AEB9C9"/>
                </a:solidFill>
              </a:rPr>
              <a:t>Esa frontera define autonomía, control, confiabilidad y responsabilidad.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88C"/>
                </a:solidFill>
                <a:latin typeface="Aptos"/>
              </a:rPr>
              <a:t>Agentes Autónomos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2D3EE"/>
                </a:solidFill>
              </a:rPr>
              <a:t>PARA EMPEZAR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828800"/>
            <a:ext cx="98755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900" b="1">
                <a:solidFill>
                  <a:srgbClr val="F5F7FA"/>
                </a:solidFill>
                <a:latin typeface="Aptos Display"/>
              </a:rPr>
              <a:t>Si una IA puede decidir qué hacer,
utilizar herramientas y ejecutar acciones…</a:t>
            </a:r>
          </a:p>
          <a:p>
            <a:pPr algn="ctr">
              <a:spcBef>
                <a:spcPts val="1800"/>
              </a:spcBef>
            </a:pPr>
            <a:r>
              <a:rPr sz="3100" b="1">
                <a:solidFill>
                  <a:srgbClr val="22D3EE"/>
                </a:solidFill>
                <a:latin typeface="Aptos Display"/>
              </a:rPr>
              <a:t>¿hasta dónde debería llegar su autonomía?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69080" y="5074920"/>
            <a:ext cx="4023360" cy="566928"/>
          </a:xfrm>
          <a:prstGeom prst="roundRect">
            <a:avLst/>
          </a:prstGeom>
          <a:solidFill>
            <a:srgbClr val="11303F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60520" y="5230368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2D3EE"/>
                </a:solidFill>
              </a:rPr>
              <a:t>Punto de partida · Unidad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547104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88C"/>
                </a:solidFill>
                <a:latin typeface="Aptos"/>
              </a:rPr>
              <a:t>Agentes Autónomos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653</Words>
  <Application>Microsoft Office PowerPoint</Application>
  <PresentationFormat>Panorámica</PresentationFormat>
  <Paragraphs>149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Usuario de Windows</cp:lastModifiedBy>
  <cp:revision>2</cp:revision>
  <dcterms:created xsi:type="dcterms:W3CDTF">2013-01-27T09:14:16Z</dcterms:created>
  <dcterms:modified xsi:type="dcterms:W3CDTF">2026-08-10T20:28:42Z</dcterms:modified>
  <cp:category/>
</cp:coreProperties>
</file>